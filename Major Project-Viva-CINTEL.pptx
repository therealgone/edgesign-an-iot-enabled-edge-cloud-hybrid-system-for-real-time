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58" r:id="rId5"/>
    <p:sldId id="269" r:id="rId6"/>
    <p:sldId id="266" r:id="rId7"/>
    <p:sldId id="270" r:id="rId8"/>
    <p:sldId id="273" r:id="rId9"/>
    <p:sldId id="259" r:id="rId10"/>
    <p:sldId id="271" r:id="rId11"/>
    <p:sldId id="261" r:id="rId12"/>
    <p:sldId id="272" r:id="rId13"/>
    <p:sldId id="262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762" autoAdjust="0"/>
  </p:normalViewPr>
  <p:slideViewPr>
    <p:cSldViewPr snapToGrid="0">
      <p:cViewPr>
        <p:scale>
          <a:sx n="200" d="100"/>
          <a:sy n="200" d="100"/>
        </p:scale>
        <p:origin x="-1131" y="-4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EA9AA-7C24-4AD0-8ABA-181A055965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D923DF-099A-484B-A99B-0EA627B17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195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7C593-6130-5E08-82FC-8671BC4A6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C9AF4-9362-5A65-8E6C-EB0E0A778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082D0-7BA4-C598-9126-D4C06EF2E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462B5-6FF4-4548-8488-596998F8D8BE}" type="datetime1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C526C-3D05-79C0-BE91-9EEFDA6C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F37C0-FD51-F828-4CE3-8C0AF0BF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14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E8C0-AA53-0ED9-FF68-2BCC9093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065F3-69BE-1E93-5369-F6C79C004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B9165-AD72-5CAA-869C-45E6DF1C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CD26C-DD38-4CD7-ADAE-6E46A4A58B8B}" type="datetime1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7F27C-3C02-76D0-ECEB-221D5CA20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F22B2-3C14-7379-6C45-863066EC4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346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0BB7-FC80-BFFB-37E5-71A63FA86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56577-EF05-31C4-B04A-77C3506A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B21D2-1772-0918-B840-B66E7EC2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A784-6CEF-4145-9D04-E78E9AF67EA3}" type="datetime1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F1102-C60B-7897-A68F-6A57AF45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09824-81C3-CDB9-E261-7D4F0616D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585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A3A1-C7E9-6E0F-56FE-D4B2D700E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19593-0E41-C308-2247-1C6CA6803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3C6EA-909E-E21B-BE30-ECAB5C02E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6976F-15F4-F5FD-45EE-6AA67EBB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E3CD1-09EE-4D76-82A7-60BD0F208FD5}" type="datetime1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5C04-2F54-F477-D953-45AA53B40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1A9EA-19FD-D296-7706-A252D7E53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303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384C-1757-4D66-1CDC-6A0B6031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80010-31A4-F507-90BA-943C3D3BC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68FDB-5627-E5D8-0218-8BB72A49D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25834F-32DE-76E8-A2BA-0BAD644E2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B8A7D1-AF97-73C2-100A-848CBB37C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D86D-6C0A-B1AF-7A59-789EF29B9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FF0C-E153-4B7F-8F39-7CA3ADC7B76B}" type="datetime1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F6587-4067-21E9-CAF9-1C3D6F61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FCD05F-01BD-2575-423A-F5AF75DD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145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C435-FF80-AB00-753F-DACEF3BC0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977EA-19CE-BCA9-BAFE-B2C7F1B2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60DB0-5BAC-47F2-BCB0-E96D6A8D29A3}" type="datetime1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2C41D8-0AAD-0882-0CCD-352E04263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696F5-0E2C-CE28-469D-15096679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448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78107-D19E-98AD-AC64-E9EDDB178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31324-D63B-4356-89D3-27DFA1A0E635}" type="datetime1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80DE31-6B90-36B5-058A-237C0D0F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012A0-2981-4986-9EBA-975BBFB4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56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DD8D5-486A-D50F-742C-55E1FA565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A7A2-9F34-00A5-CC65-8AA94E2BB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78AF5-33E0-4084-F5C8-B06E76AD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E08F1-F123-E126-CEE9-0C339C0BD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C7B48-07D1-4F34-847E-4DC9CB92C055}" type="datetime1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76DE5-F3A3-7E03-B9F3-2FE622660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9660D-98D2-AEF8-DE83-3E864717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119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75DF-77E6-564B-98A2-32EFC473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3823E2-4D4D-F3C5-39F9-34CB5DCF97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B4A64-68B3-5768-F40B-D368E9EF2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1A1F8-DF0A-299D-86EA-4BB0BA952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E8C8-4E9C-40E6-9C0E-D5ADED95C976}" type="datetime1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50A46-2472-50E1-04E6-1C2CC234E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0E3E8-E2D5-EB61-4558-2D3AE60A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611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780DC-804A-4664-44B8-4A01CA4D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33C61-03C8-14AF-6763-D32E3F322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8B9EA-3E73-0143-9143-36394E8A4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0B97D-0217-4D7A-96BE-2B93EBAE47B7}" type="datetime1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2B013-EF1E-A0C5-C7D5-99E191097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DB140-40F8-64CC-AE02-ACF199D07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910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D2EDB5-D35E-A7EF-B6D1-77EDA29C5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EC4A3-608D-1CD4-D22F-1FAC22641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AA47E-45EC-4A34-891D-19766FDD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C2C4-B5A5-46CC-9820-E5B4BA63F819}" type="datetime1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A99A9-77B0-CA59-0D03-ED061F79E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FCD53-AFE6-3085-AEA3-4491ADD9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7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D63B23-DDD7-1D72-E785-CD306FE1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E2DE2-32D9-2262-093C-A6869BFD1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B3F8D-9D1B-285A-E773-29264BE7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2D699-DB6A-41F3-B31B-DE6F40ADD5F8}" type="datetime1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A8176-92E3-9A7E-71CE-83EF39B4F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D38F2-2FEB-F7BF-083B-8EB369349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B4BB1-C4AE-4853-B6B7-C5DBDE467F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50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DF10C-50B1-5EEA-C99D-E76EBB918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31555"/>
            <a:ext cx="9144000" cy="2387600"/>
          </a:xfrm>
        </p:spPr>
        <p:txBody>
          <a:bodyPr>
            <a:normAutofit/>
          </a:bodyPr>
          <a:lstStyle/>
          <a:p>
            <a:r>
              <a:rPr lang="en-US" sz="3000" dirty="0"/>
              <a:t>EdgeSign: An IoT-Enabled Edge–Cloud Hybrid System for Real-Time Sign Language Translation</a:t>
            </a:r>
            <a:br>
              <a:rPr lang="en-US" sz="3000" dirty="0"/>
            </a:br>
            <a:endParaRPr lang="en-IN" sz="3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B463B-5D77-F851-9AED-8B303590F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080678"/>
            <a:ext cx="9144000" cy="1655762"/>
          </a:xfrm>
        </p:spPr>
        <p:txBody>
          <a:bodyPr/>
          <a:lstStyle/>
          <a:p>
            <a:r>
              <a:rPr lang="en-IN" dirty="0"/>
              <a:t>Major Project Viva Voce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5C00EC8-7435-A4D2-02F0-A1DABB201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7112" y="260273"/>
            <a:ext cx="2726823" cy="165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BFD988-AB04-8404-2C1B-7D4F637548F7}"/>
              </a:ext>
            </a:extLst>
          </p:cNvPr>
          <p:cNvSpPr txBox="1"/>
          <p:nvPr/>
        </p:nvSpPr>
        <p:spPr>
          <a:xfrm>
            <a:off x="7617837" y="40887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Surya Sathyanarayanan(RA2211026010562)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2B19ADE-D7CD-7EBB-BE53-25256467B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065" y="3788015"/>
            <a:ext cx="3755922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Dr. R. Babu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Name: Dr. R. Babu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Designation: Associate Professor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 err="1">
                <a:latin typeface="Arial" panose="020B0604020202020204" pitchFamily="34" charset="0"/>
              </a:rPr>
              <a:t>Department:CINTEL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2B19C0-33C3-6877-E9CF-CFF0AE5B87CD}"/>
              </a:ext>
            </a:extLst>
          </p:cNvPr>
          <p:cNvSpPr txBox="1"/>
          <p:nvPr/>
        </p:nvSpPr>
        <p:spPr>
          <a:xfrm>
            <a:off x="7617837" y="46257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Jeevan Baabu Murugan(RA2211026010548)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5711A-12E9-ECC8-CFE9-855232BBF360}"/>
              </a:ext>
            </a:extLst>
          </p:cNvPr>
          <p:cNvSpPr txBox="1"/>
          <p:nvPr/>
        </p:nvSpPr>
        <p:spPr>
          <a:xfrm>
            <a:off x="4139380" y="25939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Date:08/05/2026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2D6582C-047E-1432-A23E-09156C7A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1</a:t>
            </a:fld>
            <a:endParaRPr lang="en-IN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144D9CD-461A-785F-A1AA-A4AFBA52F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067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EFFAFC-4A61-2B1F-E5E4-07D6C3AB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 dirty="0"/>
              <a:t>1. Introduction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FE15A-AC0B-D863-9851-ED6276DD6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922" y="2998108"/>
            <a:ext cx="10548862" cy="3909461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EdgeSign is an IoT-enabled sign language translation system designed for individuals with speech and hearing impairments.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Raspberry Pi 4, MediaPipe, and machine learning to recognize hand gestures in real time.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Recognized gestures are converted into text and speech output for seamless communication.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BFD5384-DE6C-2779-4114-2178556E0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29368" y="158449"/>
            <a:ext cx="2713331" cy="142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62FA0-A897-EC6D-733D-A6BEE54D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A4B4BB1-C4AE-4853-B6B7-C5DBDE467F75}" type="slidenum">
              <a:rPr lang="en-IN" smtClean="0"/>
              <a:pPr>
                <a:spcAft>
                  <a:spcPts val="600"/>
                </a:spcAft>
              </a:pPr>
              <a:t>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7604E-8E7F-CE1B-C31E-18468836A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413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B4EE-BADF-0CBE-E5D4-A1FA19E93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9D4376-9799-0B77-89FA-4756BED42DA1}"/>
              </a:ext>
            </a:extLst>
          </p:cNvPr>
          <p:cNvSpPr txBox="1">
            <a:spLocks/>
          </p:cNvSpPr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endParaRPr lang="en-US" altLang="en-US" sz="2000" dirty="0"/>
          </a:p>
          <a:p>
            <a:pPr marL="0"/>
            <a:endParaRPr lang="en-US" sz="2000" dirty="0"/>
          </a:p>
          <a:p>
            <a:pPr marL="0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1089C-30EB-65B0-02A0-5FA6B72A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A4B4BB1-C4AE-4853-B6B7-C5DBDE467F7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699AF84-AC6D-71C2-4FBC-653BBFB15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Computational Intelligence, SOC, SRMIST</a:t>
            </a:r>
            <a:endParaRPr lang="en-IN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EAEF576-18E0-5952-CC19-25E753186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200" y="260273"/>
            <a:ext cx="3150735" cy="165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BCECA3-927D-6E90-7FA4-11BB435CC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sign language users and non-signers is difficult in daily life situations.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often lack portability, low latency, and real-time performance for practical usage.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accessible and intelligent system that enables smooth gesture-based communication.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090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10BB9-8F6C-0F77-46F1-FFF35E125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Literature Survey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A18CB8-264C-ED7E-46D2-8CC98739E001}"/>
              </a:ext>
            </a:extLst>
          </p:cNvPr>
          <p:cNvSpPr txBox="1">
            <a:spLocks/>
          </p:cNvSpPr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 dirty="0"/>
          </a:p>
          <a:p>
            <a:pPr marL="0"/>
            <a:endParaRPr lang="en-US" sz="2000" dirty="0"/>
          </a:p>
          <a:p>
            <a:pPr marL="0"/>
            <a:endParaRPr lang="en-US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B4020-424C-E50C-AA19-76DE084B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A4B4BB1-C4AE-4853-B6B7-C5DBDE467F7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1A1AB85-D5FB-E97A-2C88-CB84E6FC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Computational Intelligence, SOC, SRMIST</a:t>
            </a:r>
            <a:endParaRPr lang="en-IN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1E4C8838-F8E8-5542-7687-C460A35EB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200" y="260273"/>
            <a:ext cx="3150735" cy="165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53105D-D617-3CCA-EF42-90FF1A9E2295}"/>
              </a:ext>
            </a:extLst>
          </p:cNvPr>
          <p:cNvSpPr txBox="1"/>
          <p:nvPr/>
        </p:nvSpPr>
        <p:spPr>
          <a:xfrm>
            <a:off x="701592" y="2284477"/>
            <a:ext cx="104871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Research Gaps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Existing systems mainly focus on static gestures and struggle with dynamic real-time communication.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Many sign language translation models require high computational resources and are not optimized for edge devices.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Current solutions often lack integrated text, speech, and mobile-based interaction in a single platform.</a:t>
            </a:r>
          </a:p>
          <a:p>
            <a:endParaRPr lang="en-US" dirty="0"/>
          </a:p>
          <a:p>
            <a:r>
              <a:rPr lang="en-US" b="1" dirty="0"/>
              <a:t>Research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develop a real-time sign language translation system using Raspberry Pi 4 and MediaPipe.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convert recognized gestures into meaningful text and speech output with low latency.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integrate mobile communication, cloud processing, and user-friendly interaction features into a unified system.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0145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CD84A-9518-C807-FE04-13B80D5C6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CE0CD6F-FACB-7D45-557E-EB6BCED9E2B6}"/>
              </a:ext>
            </a:extLst>
          </p:cNvPr>
          <p:cNvSpPr txBox="1">
            <a:spLocks/>
          </p:cNvSpPr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sz="2000" dirty="0"/>
          </a:p>
          <a:p>
            <a:pPr marL="0"/>
            <a:endParaRPr lang="en-US" sz="2000" dirty="0"/>
          </a:p>
          <a:p>
            <a:pPr marL="0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AC520-CAA2-1A1D-93FB-E7993B96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A4B4BB1-C4AE-4853-B6B7-C5DBDE467F7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2EFB33B-66F2-B66B-3958-02AA940894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9878051"/>
              </p:ext>
            </p:extLst>
          </p:nvPr>
        </p:nvGraphicFramePr>
        <p:xfrm>
          <a:off x="1463460" y="1916757"/>
          <a:ext cx="9204541" cy="45754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4067">
                  <a:extLst>
                    <a:ext uri="{9D8B030D-6E8A-4147-A177-3AD203B41FA5}">
                      <a16:colId xmlns:a16="http://schemas.microsoft.com/office/drawing/2014/main" val="3728485122"/>
                    </a:ext>
                  </a:extLst>
                </a:gridCol>
                <a:gridCol w="738130">
                  <a:extLst>
                    <a:ext uri="{9D8B030D-6E8A-4147-A177-3AD203B41FA5}">
                      <a16:colId xmlns:a16="http://schemas.microsoft.com/office/drawing/2014/main" val="3178407755"/>
                    </a:ext>
                  </a:extLst>
                </a:gridCol>
                <a:gridCol w="1260512">
                  <a:extLst>
                    <a:ext uri="{9D8B030D-6E8A-4147-A177-3AD203B41FA5}">
                      <a16:colId xmlns:a16="http://schemas.microsoft.com/office/drawing/2014/main" val="1850852170"/>
                    </a:ext>
                  </a:extLst>
                </a:gridCol>
                <a:gridCol w="1833858">
                  <a:extLst>
                    <a:ext uri="{9D8B030D-6E8A-4147-A177-3AD203B41FA5}">
                      <a16:colId xmlns:a16="http://schemas.microsoft.com/office/drawing/2014/main" val="3458433646"/>
                    </a:ext>
                  </a:extLst>
                </a:gridCol>
                <a:gridCol w="2139643">
                  <a:extLst>
                    <a:ext uri="{9D8B030D-6E8A-4147-A177-3AD203B41FA5}">
                      <a16:colId xmlns:a16="http://schemas.microsoft.com/office/drawing/2014/main" val="3260400052"/>
                    </a:ext>
                  </a:extLst>
                </a:gridCol>
                <a:gridCol w="2048331">
                  <a:extLst>
                    <a:ext uri="{9D8B030D-6E8A-4147-A177-3AD203B41FA5}">
                      <a16:colId xmlns:a16="http://schemas.microsoft.com/office/drawing/2014/main" val="2763531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Reference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Year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Dataset(s) used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Methodology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>
                          <a:effectLst/>
                        </a:rPr>
                        <a:t>Limitations</a:t>
                      </a:r>
                      <a:endParaRPr lang="en-IN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effectLst/>
                        </a:rPr>
                        <a:t>Results</a:t>
                      </a:r>
                      <a:endParaRPr lang="en-IN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extLst>
                  <a:ext uri="{0D108BD9-81ED-4DB2-BD59-A6C34878D82A}">
                    <a16:rowId xmlns:a16="http://schemas.microsoft.com/office/drawing/2014/main" val="1314779620"/>
                  </a:ext>
                </a:extLst>
              </a:tr>
              <a:tr h="1504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Rajasekar et al.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ASL Hand Gesture Dataset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MediaPipe landmark extraction with SVM classifier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support for continuous gestures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Accuracy: 94.3%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extLst>
                  <a:ext uri="{0D108BD9-81ED-4DB2-BD59-A6C34878D82A}">
                    <a16:rowId xmlns:a16="http://schemas.microsoft.com/office/drawing/2014/main" val="3966448308"/>
                  </a:ext>
                </a:extLst>
              </a:tr>
              <a:tr h="1215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ISL Gesture Dataset</a:t>
                      </a: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With Hand Landmark Features</a:t>
                      </a: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Dynamic Gesture Support</a:t>
                      </a: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Accuracy-93.8%</a:t>
                      </a:r>
                    </a:p>
                  </a:txBody>
                  <a:tcPr marL="51329" marR="51329" marT="0" marB="0"/>
                </a:tc>
                <a:extLst>
                  <a:ext uri="{0D108BD9-81ED-4DB2-BD59-A6C34878D82A}">
                    <a16:rowId xmlns:a16="http://schemas.microsoft.com/office/drawing/2014/main" val="173283343"/>
                  </a:ext>
                </a:extLst>
              </a:tr>
              <a:tr h="1215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Nguyen et al</a:t>
                      </a:r>
                      <a:r>
                        <a:rPr lang="en-US" sz="1200" dirty="0"/>
                        <a:t>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Gesture Dataset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CNN-LSTM hybrid model for sequence recognition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complexity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Accuracy: 96.5%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329" marR="51329" marT="0" marB="0"/>
                </a:tc>
                <a:extLst>
                  <a:ext uri="{0D108BD9-81ED-4DB2-BD59-A6C34878D82A}">
                    <a16:rowId xmlns:a16="http://schemas.microsoft.com/office/drawing/2014/main" val="3615295811"/>
                  </a:ext>
                </a:extLst>
              </a:tr>
            </a:tbl>
          </a:graphicData>
        </a:graphic>
      </p:graphicFrame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C92C976-9234-F112-D2EB-357CE4FAF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Computational Intelligence, SOC, SRMIST</a:t>
            </a:r>
            <a:endParaRPr lang="en-IN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F4EF8BCC-B722-0785-1990-7FBEAAE2C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200" y="260273"/>
            <a:ext cx="3150735" cy="165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596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719FA-DF52-C61A-71CF-AB3579269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0350AA0-2D84-5388-1088-E0AC8C12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80FCB-70D8-071B-52C1-5390ABE7A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 dirty="0"/>
              <a:t>3. Methodology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1DC62F-1660-9A11-958A-3BE40CB43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AF2F04-3DED-6C16-D717-AF5DC55CB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72512-6A26-93D6-C836-E94A9A558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80" y="2801714"/>
            <a:ext cx="9295220" cy="3639450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Approach (Agile / Scrum)</a:t>
            </a:r>
          </a:p>
          <a:p>
            <a:r>
              <a:rPr lang="en-US" sz="2000" dirty="0"/>
              <a:t>Agile Scrum methodology was followed for iterative development and continuous improvement. </a:t>
            </a:r>
          </a:p>
          <a:p>
            <a:r>
              <a:rPr lang="en-US" sz="2000" dirty="0"/>
              <a:t>The project was divided into multiple sprints covering gesture recognition, communication, and system integration. </a:t>
            </a:r>
          </a:p>
          <a:p>
            <a:r>
              <a:rPr lang="en-US" sz="2000" dirty="0"/>
              <a:t>Regular testing, sprint reviews, and retrospectives were conducted to improve performance and usability.</a:t>
            </a:r>
          </a:p>
          <a:p>
            <a:pPr marL="0" indent="0">
              <a:buNone/>
            </a:pPr>
            <a:r>
              <a:rPr lang="en-US" sz="2000" b="1" dirty="0"/>
              <a:t>Tools / Software Used</a:t>
            </a:r>
          </a:p>
          <a:p>
            <a:r>
              <a:rPr lang="en-US" sz="2000" dirty="0"/>
              <a:t>Raspberry Pi 4, Pi Camera Module, and Bluetooth audio devices </a:t>
            </a:r>
          </a:p>
          <a:p>
            <a:r>
              <a:rPr lang="en-US" sz="2000" dirty="0"/>
              <a:t>Python, OpenCV, MediaPipe, TensorFlow Lite, Random Forest, </a:t>
            </a:r>
            <a:r>
              <a:rPr lang="en-US" sz="2000" dirty="0" err="1"/>
              <a:t>Xgboost</a:t>
            </a:r>
            <a:r>
              <a:rPr lang="en-US" sz="2000" dirty="0"/>
              <a:t>, GB</a:t>
            </a:r>
          </a:p>
          <a:p>
            <a:r>
              <a:rPr lang="en-US" sz="2000" dirty="0"/>
              <a:t> WebSocket</a:t>
            </a:r>
          </a:p>
          <a:p>
            <a:r>
              <a:rPr lang="en-US" sz="2000" dirty="0"/>
              <a:t>VS Code, GitHub, MS Planner</a:t>
            </a:r>
          </a:p>
          <a:p>
            <a:pPr marL="0" indent="0">
              <a:buNone/>
            </a:pP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AF4499-E363-3790-A658-640A4D520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4A145-40C8-4BF0-75BB-B8C49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A4B4BB1-C4AE-4853-B6B7-C5DBDE467F75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E9F5DB5-9C5E-32A2-888A-DA7B55AF0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30D700B-FA3B-1DC9-F82C-F7E2BB582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200" y="260273"/>
            <a:ext cx="3150735" cy="165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837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0C928-A474-93CF-C3E6-B150A797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CC2D2-DAA7-F97F-1595-3BCB570D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A4B4BB1-C4AE-4853-B6B7-C5DBDE467F75}" type="slidenum">
              <a:rPr lang="en-IN" smtClean="0"/>
              <a:pPr>
                <a:spcAft>
                  <a:spcPts val="600"/>
                </a:spcAft>
              </a:pPr>
              <a:t>7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AC89BF8-0B56-4E94-77C7-C05243BB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62E5815-8460-FF2D-CE2B-2A123EE1A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200" y="260273"/>
            <a:ext cx="3150735" cy="165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7275BE-97DD-CD58-4C3B-3C002E70F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642" y="115302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Architecture Diagram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an edge–cloud hybrid architecture for real-time gesture-based communication.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4 captures hand gestures, processes them using MediaPipe and ML models, and sends data to cloud services when required.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output is delivered as text and speech through the mobile application and audio output modules.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543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68A07-B1B1-8E20-F697-A5AF5990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7CA12D-8E0E-69CC-8686-9697B0F1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E72BE-AE3A-22D0-177C-B266CF27C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42900"/>
            <a:ext cx="11353800" cy="558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14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6D364-D2F1-1929-8A75-9169E0280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 dirty="0"/>
              <a:t>4. Sprint Highlights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44F33-6DF0-3A56-9C43-A6020ECA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A4B4BB1-C4AE-4853-B6B7-C5DBDE467F75}" type="slidenum">
              <a:rPr lang="en-IN" smtClean="0"/>
              <a:pPr>
                <a:spcAft>
                  <a:spcPts val="600"/>
                </a:spcAft>
              </a:pPr>
              <a:t>9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CD8225F-80B0-3A2E-2DC5-5D58A08B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FCF508F-77EA-3010-B313-8D005EAB7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200" y="260273"/>
            <a:ext cx="3150735" cy="165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5AB5801-0E1D-A7D2-7924-37463331DE7A}"/>
              </a:ext>
            </a:extLst>
          </p:cNvPr>
          <p:cNvSpPr txBox="1">
            <a:spLocks/>
          </p:cNvSpPr>
          <p:nvPr/>
        </p:nvSpPr>
        <p:spPr>
          <a:xfrm>
            <a:off x="496919" y="2407463"/>
            <a:ext cx="8227207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I – Gesture Recognition System Setup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4 and Pi Camera configured for real-time gesture capture.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MediaPipe integrated for hand landmark extraction and preprocessing.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model trained for predefined gesture recognition.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gesture-to-text pipeline implemented with basic testing.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II – Communication &amp; Output Integration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Gesture-to-text and sentence generation modules implemented.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(TTS) added for audio communication output.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UI integrated using WebSocket/BLE for real-time text display.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OCR, Speech-to-Text, and developer mode features added.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IN" sz="2000" dirty="0">
                <a:solidFill>
                  <a:srgbClr val="FF0000"/>
                </a:solidFill>
              </a:rPr>
              <a:t>                             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b="1" dirty="0">
                <a:solidFill>
                  <a:srgbClr val="FF0000"/>
                </a:solidFill>
              </a:rPr>
              <a:t>                     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F5B5DC-E1F8-83C3-CFEA-F3C97C7AC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329970"/>
            <a:ext cx="3154574" cy="407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23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38BD6-5E30-1071-9EE1-808C1D0E4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7F25A-DF3B-6E4C-6B8A-7B4227AF1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 dirty="0"/>
              <a:t>4. Sprint Highlights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AD86E-F56D-6B21-30EB-91A452DB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A4B4BB1-C4AE-4853-B6B7-C5DBDE467F75}" type="slidenum">
              <a:rPr lang="en-IN" smtClean="0"/>
              <a:pPr>
                <a:spcAft>
                  <a:spcPts val="600"/>
                </a:spcAft>
              </a:pPr>
              <a:t>10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F28CB9E-1881-E0BE-251B-BF3869A71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761AB7D-3F14-3623-9409-5300BC730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200" y="260273"/>
            <a:ext cx="3150735" cy="165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85A65DF-8292-F483-5C80-F99611C3E634}"/>
              </a:ext>
            </a:extLst>
          </p:cNvPr>
          <p:cNvSpPr txBox="1">
            <a:spLocks/>
          </p:cNvSpPr>
          <p:nvPr/>
        </p:nvSpPr>
        <p:spPr>
          <a:xfrm>
            <a:off x="793662" y="2432518"/>
            <a:ext cx="8227207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&amp; Non-Functional Highlights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gesture recognition with low latency. 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Cloud-assisted sentence generation and processing. 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and scalable edge–cloud architecture. 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with audio and text outputs.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Features Implemented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gesture recognition using MediaPipe + ML model 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Gesture-to-text and speech conversion 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communication and UI display 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text extraction and Speech-to-Text support 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mode with logs and preview monitoring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Retrospective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recognition accuracy and communication stability across sprints. 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challenges in lighting conditions and network latency. 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system performance through testing and debugging. 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sprint reviews helped refine usability and integration features.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IN" sz="2000" dirty="0">
                <a:solidFill>
                  <a:srgbClr val="FF0000"/>
                </a:solidFill>
              </a:rPr>
              <a:t>                             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b="1" dirty="0">
                <a:solidFill>
                  <a:srgbClr val="FF0000"/>
                </a:solidFill>
              </a:rPr>
              <a:t>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455127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143C2-66E4-1FE2-12C2-327468434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Results &amp; Discussions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91DA7A3-508B-4111-4646-894FDB90D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065" y="-68959"/>
            <a:ext cx="10515600" cy="435133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000" dirty="0"/>
              <a:t>          Performance Evaluation Metrics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613DA-D18D-5885-B0D8-620D1AF1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0A1682-60B4-8A83-8D45-471FC288C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11</a:t>
            </a:fld>
            <a:endParaRPr lang="en-IN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DDDDE5A-F409-D8CF-BAC3-2631B18B2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200" y="260273"/>
            <a:ext cx="3150735" cy="165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4AEE25-1ADB-D5BC-C137-AEA64C1EE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35" y="1984998"/>
            <a:ext cx="3101525" cy="20030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7E0296-724B-5BA9-6CE5-3AB89D7CC8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83"/>
          <a:stretch>
            <a:fillRect/>
          </a:stretch>
        </p:blipFill>
        <p:spPr>
          <a:xfrm>
            <a:off x="5534527" y="2458528"/>
            <a:ext cx="3591351" cy="36088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19A448-55BF-1365-C13D-3C96F4CE7D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1667"/>
          <a:stretch>
            <a:fillRect/>
          </a:stretch>
        </p:blipFill>
        <p:spPr>
          <a:xfrm>
            <a:off x="5534527" y="2113935"/>
            <a:ext cx="3591351" cy="37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896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2D103-8E19-6017-7D84-8F96E8A9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CD17-223A-DC1A-52A8-74A256573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Results &amp; Discussions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9BE189D-E6A7-538D-EEFA-B901D65DD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065" y="-68959"/>
            <a:ext cx="10515600" cy="435133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000" dirty="0"/>
              <a:t>          Testing analysis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9A5A91-ED51-83DE-B8CA-C3769BEF1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786246-6E08-0380-12AC-5296E72B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12</a:t>
            </a:fld>
            <a:endParaRPr lang="en-IN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7B89EF2E-2E79-6E2A-077B-B162D852A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200" y="260273"/>
            <a:ext cx="3150735" cy="165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939A0D-B7B0-BD3E-8E75-3269C4D391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53" y="1875170"/>
            <a:ext cx="5250191" cy="17500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3C4B9A-77E8-C6F9-761F-234A59C1C3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675" y="3625234"/>
            <a:ext cx="3228975" cy="258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23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26551-CA43-F064-AE66-B9BC07D0E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Conclusion and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A5EBD-38E2-2C82-0D5C-F71E565E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13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0EE3C6-957D-76B3-075E-6F8B01556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084" y="1424933"/>
            <a:ext cx="10515600" cy="4351338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/>
              <a:t>Summary of Achievements</a:t>
            </a:r>
          </a:p>
          <a:p>
            <a:r>
              <a:rPr lang="en-US" sz="2000" dirty="0"/>
              <a:t>Developed a real-time wearable sign language communication system using Raspberry Pi 4. </a:t>
            </a:r>
          </a:p>
          <a:p>
            <a:r>
              <a:rPr lang="en-US" sz="2000" dirty="0"/>
              <a:t>Implemented gesture recognition using MediaPipe and Machine Learning techniques. </a:t>
            </a:r>
          </a:p>
          <a:p>
            <a:r>
              <a:rPr lang="en-US" sz="2000" dirty="0"/>
              <a:t>Integrated gesture-to-text, Text-to-Speech (TTS), OCR, and Speech-to-Text modules. </a:t>
            </a:r>
          </a:p>
          <a:p>
            <a:r>
              <a:rPr lang="en-US" sz="2000" dirty="0"/>
              <a:t>Enabled real-time communication through edge–cloud processing and mobile interface integration.</a:t>
            </a:r>
          </a:p>
          <a:p>
            <a:pPr marL="0" indent="0">
              <a:buNone/>
            </a:pPr>
            <a:r>
              <a:rPr lang="en-US" sz="2000" b="1" dirty="0"/>
              <a:t>Key Contributions</a:t>
            </a:r>
          </a:p>
          <a:p>
            <a:r>
              <a:rPr lang="en-US" sz="2000" dirty="0"/>
              <a:t>Designed an accessible communication system for speech and hearing-impaired users. </a:t>
            </a:r>
          </a:p>
          <a:p>
            <a:r>
              <a:rPr lang="en-US" sz="2000" dirty="0"/>
              <a:t>Built an edge–cloud hybrid architecture for low-latency gesture processing. </a:t>
            </a:r>
          </a:p>
          <a:p>
            <a:r>
              <a:rPr lang="en-US" sz="2000" dirty="0"/>
              <a:t>Improved communication flexibility using audio, text, and mobile-based interaction. </a:t>
            </a:r>
          </a:p>
          <a:p>
            <a:r>
              <a:rPr lang="en-US" sz="2000" dirty="0"/>
              <a:t>Added developer tools, gesture customization, and real-time monitoring features. </a:t>
            </a:r>
          </a:p>
          <a:p>
            <a:pPr marL="0" indent="0">
              <a:buNone/>
            </a:pPr>
            <a:r>
              <a:rPr lang="en-US" sz="2000" b="1" dirty="0"/>
              <a:t>Future Enhancements</a:t>
            </a:r>
          </a:p>
          <a:p>
            <a:r>
              <a:rPr lang="en-US" sz="2000" dirty="0"/>
              <a:t>Support dynamic and multilingual sign language recognition. </a:t>
            </a:r>
          </a:p>
          <a:p>
            <a:r>
              <a:rPr lang="en-US" sz="2000" dirty="0"/>
              <a:t>Improve model accuracy using larger datasets and deep learning approaches. </a:t>
            </a:r>
          </a:p>
          <a:p>
            <a:r>
              <a:rPr lang="en-US" sz="2000" dirty="0"/>
              <a:t>Integrate smart wearable sensors and haptic feedback systems. </a:t>
            </a:r>
          </a:p>
          <a:p>
            <a:r>
              <a:rPr lang="en-US" sz="2000" dirty="0"/>
              <a:t>Enhance offline processing and cloud scalability for real-world deployment.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2B042-9649-6DDB-EAD5-9887D3207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275399-9A68-0121-1CEE-599F68541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200" y="260273"/>
            <a:ext cx="3150735" cy="165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358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B85DE-03B1-CB41-A6E3-9B5D376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6C411-AE43-55B9-CBB8-1CE9221F2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470"/>
            <a:ext cx="10515600" cy="5141405"/>
          </a:xfrm>
        </p:spPr>
        <p:txBody>
          <a:bodyPr>
            <a:normAutofit fontScale="62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Zhang, X. Zhu, and L. Ye, “MediaPipe Hands: On-device Real-time Hand Tracking,”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Research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Vaswani et al., “Attention Is All You Need,”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Neural Information Processing Systems 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Lite Documentation, “Deploy Machine Learning Models on Edge Devices,” Google Developers, 2024.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Biswas and S. Basu, “Real-Time Hand Gesture Recognition Using MediaPipe and Machine Learning,”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Applications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183, no. 45, pp. 15–22, 2022.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OpenCV Documentation, “Open Source Computer Vision Library,” OpenCV.org, 2024.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Howard et al., “Searching for MobileNetV3,”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 International Conference on Computer Vision (ICCV)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Tesseract OCR Documentation, “Optical Character Recognition Engine,” Google Open Source, 2024.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R. Yang, S. Sarkar, and B. Loeding, “Handling Movement Epenthesis and Hand Segmentation Ambiguities in Continuous Sign Language Recognition,” </a:t>
            </a:r>
            <a:r>
              <a:rPr lang="en-US" i="1" dirty="0"/>
              <a:t>International Journal of Computer Vision</a:t>
            </a:r>
            <a:r>
              <a:rPr lang="en-US" dirty="0"/>
              <a:t>, vol. 76, no. 2, pp. 97–121, Springer Publishing, 2008.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P. Molchanov, S. Gupta, K. Kim, and J. Kautz, “Hand Gesture Recognition with 3D Convolutional Neural Networks,” </a:t>
            </a:r>
            <a:r>
              <a:rPr lang="en-US" i="1" dirty="0"/>
              <a:t>Proceedings of the IEEE Conference on Computer Vision and Pattern Recognition (CVPR)</a:t>
            </a:r>
            <a:r>
              <a:rPr lang="en-US" dirty="0"/>
              <a:t>, IEEE Publishing, 2015.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B9D20-016B-F595-5135-24A2CB0E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B4BB1-C4AE-4853-B6B7-C5DBDE467F75}" type="slidenum">
              <a:rPr lang="en-IN" smtClean="0"/>
              <a:t>14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34DAD-53C7-C4C8-EC74-F1A66071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Computational Intelligence, SOC, SRMIST</a:t>
            </a:r>
            <a:endParaRPr lang="en-IN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75CDF39-0633-67A7-2B15-1500FDC1A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6273" y="48471"/>
            <a:ext cx="2289016" cy="120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408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1247</Words>
  <Application>Microsoft Office PowerPoint</Application>
  <PresentationFormat>Widescreen</PresentationFormat>
  <Paragraphs>167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Wingdings</vt:lpstr>
      <vt:lpstr>Office Theme</vt:lpstr>
      <vt:lpstr>EdgeSign: An IoT-Enabled Edge–Cloud Hybrid System for Real-Time Sign Language Translation </vt:lpstr>
      <vt:lpstr>1. Introduction</vt:lpstr>
      <vt:lpstr>PowerPoint Presentation</vt:lpstr>
      <vt:lpstr>2. Literature Survey</vt:lpstr>
      <vt:lpstr>PowerPoint Presentation</vt:lpstr>
      <vt:lpstr>3. Methodology</vt:lpstr>
      <vt:lpstr>PowerPoint Presentation</vt:lpstr>
      <vt:lpstr>PowerPoint Presentation</vt:lpstr>
      <vt:lpstr>4. Sprint Highlights</vt:lpstr>
      <vt:lpstr>4. Sprint Highlights</vt:lpstr>
      <vt:lpstr>5. Results &amp; Discussions</vt:lpstr>
      <vt:lpstr>5. Results &amp; Discussions</vt:lpstr>
      <vt:lpstr>6. Conclusion and Future work</vt:lpstr>
      <vt:lpstr>7.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Krishnaveni S 100932</dc:creator>
  <cp:lastModifiedBy>Jeevan Baabu</cp:lastModifiedBy>
  <cp:revision>7</cp:revision>
  <dcterms:created xsi:type="dcterms:W3CDTF">2026-05-05T17:10:23Z</dcterms:created>
  <dcterms:modified xsi:type="dcterms:W3CDTF">2026-05-08T06:28:33Z</dcterms:modified>
</cp:coreProperties>
</file>